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C23F00"/>
                </a:solidFill>
                <a:latin typeface="Geist Mono"/>
              </a:rPr>
              <a:t>COLOSSEUM, CRYPTO WORLD'S FAIR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7600" b="1">
                <a:solidFill>
                  <a:srgbClr val="F4F1EE"/>
                </a:solidFill>
                <a:latin typeface="Schibsted Grotesk"/>
              </a:rPr>
              <a:t>Sluice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71800"/>
            <a:ext cx="10545775" cy="20320"/>
          </a:xfrm>
          <a:prstGeom prst="rect">
            <a:avLst/>
          </a:prstGeom>
          <a:solidFill>
            <a:srgbClr val="C23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3000" b="0">
                <a:solidFill>
                  <a:srgbClr val="B1A9A3"/>
                </a:solidFill>
                <a:latin typeface="Inter"/>
              </a:rPr>
              <a:t>Issue the real asset.</a:t>
            </a:r>
          </a:p>
          <a:p>
            <a:pPr>
              <a:lnSpc>
                <a:spcPct val="130000"/>
              </a:lnSpc>
            </a:pPr>
            <a:r>
              <a:rPr sz="3000" b="0">
                <a:solidFill>
                  <a:srgbClr val="B1A9A3"/>
                </a:solidFill>
                <a:latin typeface="Inter"/>
              </a:rPr>
              <a:t>The market decides if you keep the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78706A"/>
                </a:solidFill>
                <a:latin typeface="Geist Mono"/>
              </a:rPr>
              <a:t>agbedepaul.xyz  ·  devnet 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C23F00"/>
                </a:solidFill>
                <a:latin typeface="Geist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F4F1EE"/>
                </a:solidFill>
                <a:latin typeface="Schibsted Grotesk"/>
              </a:rPr>
              <a:t>Nobody can fund an invoice</a:t>
            </a:r>
          </a:p>
          <a:p>
            <a:pPr>
              <a:lnSpc>
                <a:spcPct val="105000"/>
              </a:lnSpc>
            </a:pPr>
            <a:r>
              <a:rPr sz="4000" b="0">
                <a:solidFill>
                  <a:srgbClr val="F4F1EE"/>
                </a:solidFill>
                <a:latin typeface="Schibsted Grotesk"/>
              </a:rPr>
              <a:t>without taking the invoice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10545775" cy="20320"/>
          </a:xfrm>
          <a:prstGeom prst="rect">
            <a:avLst/>
          </a:prstGeom>
          <a:solidFill>
            <a:srgbClr val="C23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800" b="0">
                <a:solidFill>
                  <a:srgbClr val="B1A9A3"/>
                </a:solidFill>
                <a:latin typeface="Inter"/>
              </a:rPr>
              <a:t>A small business holding a real, unpaid invoice has no way to have anyone</a:t>
            </a:r>
          </a:p>
          <a:p>
            <a:pPr>
              <a:lnSpc>
                <a:spcPct val="145000"/>
              </a:lnSpc>
            </a:pPr>
            <a:r>
              <a:rPr sz="1800" b="0">
                <a:solidFill>
                  <a:srgbClr val="B1A9A3"/>
                </a:solidFill>
                <a:latin typeface="Inter"/>
              </a:rPr>
              <a:t>fund it against that invoice without giving up control of it. Banks will not</a:t>
            </a:r>
          </a:p>
          <a:p>
            <a:pPr>
              <a:lnSpc>
                <a:spcPct val="145000"/>
              </a:lnSpc>
            </a:pPr>
            <a:r>
              <a:rPr sz="1800" b="0">
                <a:solidFill>
                  <a:srgbClr val="B1A9A3"/>
                </a:solidFill>
                <a:latin typeface="Inter"/>
              </a:rPr>
              <a:t>lend against a receivable from a counterparty they have never met, and the</a:t>
            </a:r>
          </a:p>
          <a:p>
            <a:pPr>
              <a:lnSpc>
                <a:spcPct val="145000"/>
              </a:lnSpc>
            </a:pPr>
            <a:r>
              <a:rPr sz="1800" b="0">
                <a:solidFill>
                  <a:srgbClr val="B1A9A3"/>
                </a:solidFill>
                <a:latin typeface="Inter"/>
              </a:rPr>
              <a:t>person owed has no instrument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 b="0">
                <a:solidFill>
                  <a:srgbClr val="78706A"/>
                </a:solidFill>
                <a:latin typeface="Inter"/>
              </a:rPr>
              <a:t>Factoring takes the margin. A court takes the year. Selling the debt takes</a:t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78706A"/>
                </a:solidFill>
                <a:latin typeface="Inter"/>
              </a:rPr>
              <a:t>most of the value. None of them finance the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C23F00"/>
                </a:solidFill>
                <a:latin typeface="Geist Mono"/>
              </a:rPr>
              <a:t>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F4F1EE"/>
                </a:solidFill>
                <a:latin typeface="Schibsted Grotesk"/>
              </a:rPr>
              <a:t>Every tranche is a</a:t>
            </a:r>
          </a:p>
          <a:p>
            <a:pPr>
              <a:lnSpc>
                <a:spcPct val="105000"/>
              </a:lnSpc>
            </a:pPr>
            <a:r>
              <a:rPr sz="4000" b="0">
                <a:solidFill>
                  <a:srgbClr val="F4F1EE"/>
                </a:solidFill>
                <a:latin typeface="Schibsted Grotesk"/>
              </a:rPr>
              <a:t>question with a name on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10545775" cy="20320"/>
          </a:xfrm>
          <a:prstGeom prst="rect">
            <a:avLst/>
          </a:prstGeom>
          <a:solidFill>
            <a:srgbClr val="C23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C23F00"/>
                </a:solidFill>
                <a:latin typeface="Geist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F4F1EE"/>
                </a:solidFill>
                <a:latin typeface="Schibsted Grotesk"/>
              </a:rPr>
              <a:t>The claim becomes a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99816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78706A"/>
                </a:solidFill>
                <a:latin typeface="Inter"/>
              </a:rPr>
              <a:t>A NAV band from a valuation model shapes a sixteen segment bonding curve, so price discovery follows the asset rather than a curve applied to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C23F00"/>
                </a:solidFill>
                <a:latin typeface="Geist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F4F1EE"/>
                </a:solidFill>
                <a:latin typeface="Schibsted Grotesk"/>
              </a:rPr>
              <a:t>The question opens a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68496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78706A"/>
                </a:solidFill>
                <a:latin typeface="Inter"/>
              </a:rPr>
              <a:t>One binary question per tranche, one machine-checkable answer, one named verifier. YES and NO are priced in cents, and there is no committee.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C23F00"/>
                </a:solidFill>
                <a:latin typeface="Geist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2628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F4F1EE"/>
                </a:solidFill>
                <a:latin typeface="Schibsted Grotesk"/>
              </a:rPr>
              <a:t>Yes releases, no redeems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37176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78706A"/>
                </a:solidFill>
                <a:latin typeface="Inter"/>
              </a:rPr>
              <a:t>On yes the tranche releases on its vesting schedule; on no, remaining capital routes to a redemption vault and holders claim pro rata.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C23F00"/>
                </a:solidFill>
                <a:latin typeface="Geist Mon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9496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F4F1EE"/>
                </a:solidFill>
                <a:latin typeface="Schibsted Grotesk"/>
              </a:rPr>
              <a:t>Silence resolves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05856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78706A"/>
                </a:solidFill>
                <a:latin typeface="Inter"/>
              </a:rPr>
              <a:t>If the verifier does not report inside the grace window, the tranche resolves no by default. Money nobody can prove was earned does not release.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C23F00"/>
                </a:solidFill>
                <a:latin typeface="Geist Mono"/>
              </a:rPr>
              <a:t>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F4F1EE"/>
                </a:solidFill>
                <a:latin typeface="Schibsted Grotesk"/>
              </a:rPr>
              <a:t>The curve closes the</a:t>
            </a:r>
          </a:p>
          <a:p>
            <a:pPr>
              <a:lnSpc>
                <a:spcPct val="105000"/>
              </a:lnSpc>
            </a:pPr>
            <a:r>
              <a:rPr sz="4000" b="0">
                <a:solidFill>
                  <a:srgbClr val="F4F1EE"/>
                </a:solidFill>
                <a:latin typeface="Schibsted Grotesk"/>
              </a:rPr>
              <a:t>compliance window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10545775" cy="20320"/>
          </a:xfrm>
          <a:prstGeom prst="rect">
            <a:avLst/>
          </a:prstGeom>
          <a:solidFill>
            <a:srgbClr val="C23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700" b="0">
                <a:solidFill>
                  <a:srgbClr val="B1A9A3"/>
                </a:solidFill>
                <a:latin typeface="Inter"/>
              </a:rPr>
              <a:t>A Token-2022 transfer hook enforces the issuing jurisdiction's policy during</a:t>
            </a:r>
          </a:p>
          <a:p>
            <a:pPr>
              <a:lnSpc>
                <a:spcPct val="140000"/>
              </a:lnSpc>
            </a:pPr>
            <a:r>
              <a:rPr sz="1700" b="0">
                <a:solidFill>
                  <a:srgbClr val="B1A9A3"/>
                </a:solidFill>
                <a:latin typeface="Inter"/>
              </a:rPr>
              <a:t>the raise, and the bonding curve revokes it automatically at graduation. The</a:t>
            </a:r>
          </a:p>
          <a:p>
            <a:pPr>
              <a:lnSpc>
                <a:spcPct val="140000"/>
              </a:lnSpc>
            </a:pPr>
            <a:r>
              <a:rPr sz="1700" b="0">
                <a:solidFill>
                  <a:srgbClr val="B1A9A3"/>
                </a:solidFill>
                <a:latin typeface="Inter"/>
              </a:rPr>
              <a:t>compliance step is not a team that has to remember, it is the curve doing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69080"/>
            <a:ext cx="10545775" cy="1371600"/>
          </a:xfrm>
          <a:prstGeom prst="rect">
            <a:avLst/>
          </a:prstGeom>
          <a:solidFill>
            <a:srgbClr val="1C2024"/>
          </a:solidFill>
          <a:ln w="12700">
            <a:solidFill>
              <a:srgbClr val="C23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/>
            <a:r>
              <a:rPr sz="1900" b="1">
                <a:solidFill>
                  <a:srgbClr val="F4F1EE"/>
                </a:solidFill>
                <a:latin typeface="Schibsted Grotesk"/>
              </a:rPr>
              <a:t>Not futarchy. Never described as it.</a:t>
            </a:r>
          </a:p>
          <a:p>
            <a:pPr>
              <a:lnSpc>
                <a:spcPct val="135000"/>
              </a:lnSpc>
            </a:pPr>
            <a:r>
              <a:rPr sz="1250">
                <a:solidFill>
                  <a:srgbClr val="B1A9A3"/>
                </a:solidFill>
                <a:latin typeface="Inter"/>
              </a:rPr>
              <a:t>Futarchy runs markets on a token's future price and resolves by TWAP. Sluice runs a binary market on one verifiable fact. Different mechanisms, and conflating them in front of a judge who builds the former would be expensive.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C23F00"/>
                </a:solidFill>
                <a:latin typeface="Geist Mono"/>
              </a:rPr>
              <a:t>STATUS,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F4F1EE"/>
                </a:solidFill>
                <a:latin typeface="Schibsted Grotesk"/>
              </a:rPr>
              <a:t>What runs, and what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0545775" cy="20320"/>
          </a:xfrm>
          <a:prstGeom prst="rect">
            <a:avLst/>
          </a:prstGeom>
          <a:solidFill>
            <a:srgbClr val="C23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C23F00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F4F1EE"/>
                </a:solidFill>
                <a:latin typeface="Schibsted Grotesk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14884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B1A9A3"/>
                </a:solidFill>
                <a:latin typeface="Inter"/>
              </a:rPr>
              <a:t>Ten sections, deployed and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C23F00"/>
                </a:solidFill>
                <a:latin typeface="Inter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F4F1EE"/>
                </a:solidFill>
                <a:latin typeface="Schibsted Grotesk"/>
              </a:rPr>
              <a:t>Indexer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69748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B1A9A3"/>
                </a:solidFill>
                <a:latin typeface="Inter"/>
              </a:rPr>
              <a:t>Deployed on devnet, 47 tests, live Panta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C23F00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F4F1EE"/>
                </a:solidFill>
                <a:latin typeface="Schibsted Grotesk"/>
              </a:rPr>
              <a:t>Waitlist and invites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24612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B1A9A3"/>
                </a:solidFill>
                <a:latin typeface="Inter"/>
              </a:rPr>
              <a:t>Running in Postgres, signed codes, verified end to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C23F00"/>
                </a:solidFill>
                <a:latin typeface="Inter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F4F1EE"/>
                </a:solidFill>
                <a:latin typeface="Schibsted Grotesk"/>
              </a:rPr>
              <a:t>core-math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79476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B1A9A3"/>
                </a:solidFill>
                <a:latin typeface="Inter"/>
              </a:rPr>
              <a:t>83 unit tests, no Solana dependency, runs anywhere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78706A"/>
                </a:solidFill>
                <a:latin typeface="Inter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5312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78706A"/>
                </a:solidFill>
                <a:latin typeface="Schibsted Grotesk"/>
              </a:rPr>
              <a:t>Rust programs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453128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78706A"/>
                </a:solidFill>
                <a:latin typeface="Inter"/>
              </a:rPr>
              <a:t>Do not compile. Solana 1.17.34 needs Rust 1.85, the lockfile floats to edition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01768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78706A"/>
                </a:solidFill>
                <a:latin typeface="Inter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0176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78706A"/>
                </a:solidFill>
                <a:latin typeface="Schibsted Grotesk"/>
              </a:rPr>
              <a:t>Mainnet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001768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78706A"/>
                </a:solidFill>
                <a:latin typeface="Inter"/>
              </a:rPr>
              <a:t>Not attempted. Target Q2 2027, after the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50408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78706A"/>
                </a:solidFill>
                <a:latin typeface="Inter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50408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78706A"/>
                </a:solidFill>
                <a:latin typeface="Schibsted Grotesk"/>
              </a:rPr>
              <a:t>Groups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550408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78706A"/>
                </a:solidFill>
                <a:latin typeface="Inter"/>
              </a:rPr>
              <a:t>Phase 1, not built, and the routes say 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 b="0">
                <a:solidFill>
                  <a:srgbClr val="78706A"/>
                </a:solidFill>
                <a:latin typeface="Geist Mono"/>
              </a:rPr>
              <a:t>Full scope, dependency exposure and roadmap in AUDIT_SCOPE.md in the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C23F00"/>
                </a:solidFill>
                <a:latin typeface="Geist Mono"/>
              </a:rPr>
              <a:t>WHO IT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F4F1EE"/>
                </a:solidFill>
                <a:latin typeface="Schibsted Grotesk"/>
              </a:rPr>
              <a:t>Two people, one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0545775" cy="20320"/>
          </a:xfrm>
          <a:prstGeom prst="rect">
            <a:avLst/>
          </a:prstGeom>
          <a:solidFill>
            <a:srgbClr val="C23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400" b="1">
                <a:solidFill>
                  <a:srgbClr val="C23F00"/>
                </a:solidFill>
                <a:latin typeface="Schibsted Grotesk"/>
              </a:rPr>
              <a:t>The issuer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500" b="0">
                <a:solidFill>
                  <a:srgbClr val="B1A9A3"/>
                </a:solidFill>
                <a:latin typeface="Inter"/>
              </a:rPr>
              <a:t>You are owed money and you are not a company. No bank will lend against the receivable and no instrument exists, so you have factoring at a rate that eats the margin, a court, or selling the debt for pennies.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317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400" b="1">
                <a:solidFill>
                  <a:srgbClr val="C23F00"/>
                </a:solidFill>
                <a:latin typeface="Schibsted Grotesk"/>
              </a:rPr>
              <a:t>The investor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9718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500" b="0">
                <a:solidFill>
                  <a:srgbClr val="B1A9A3"/>
                </a:solidFill>
                <a:latin typeface="Inter"/>
              </a:rPr>
              <a:t>You want that invoice financed and you would rather adjudicate on a market than on trust in the person who owes you, which is the one thing a receivable has never offered.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78706A"/>
                </a:solidFill>
                <a:latin typeface="Inter"/>
              </a:rPr>
              <a:t>And, later, the person saving with people they already trust, which is Phase 1 and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78706A"/>
                </a:solidFill>
                <a:latin typeface="Inter"/>
              </a:rPr>
              <a:t>is waiting on mobile money rails rather than on a token launch.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C23F00"/>
                </a:solidFill>
                <a:latin typeface="Geist Mono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6800" b="1">
                <a:solidFill>
                  <a:srgbClr val="F4F1EE"/>
                </a:solidFill>
                <a:latin typeface="Schibsted Grotesk"/>
              </a:rPr>
              <a:t>Join the beta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63240"/>
            <a:ext cx="10545775" cy="20320"/>
          </a:xfrm>
          <a:prstGeom prst="rect">
            <a:avLst/>
          </a:prstGeom>
          <a:solidFill>
            <a:srgbClr val="C23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700" b="0">
                <a:solidFill>
                  <a:srgbClr val="B1A9A3"/>
                </a:solidFill>
                <a:latin typeface="Inter"/>
              </a:rPr>
              <a:t>Devnet only. Nothing here can cost you money and no token you see is worth</a:t>
            </a:r>
          </a:p>
          <a:p>
            <a:pPr>
              <a:lnSpc>
                <a:spcPct val="145000"/>
              </a:lnSpc>
            </a:pPr>
            <a:r>
              <a:rPr sz="1700" b="0">
                <a:solidFill>
                  <a:srgbClr val="B1A9A3"/>
                </a:solidFill>
                <a:latin typeface="Inter"/>
              </a:rPr>
              <a:t>anything. I am letting people in small batches as each surface opens, and the</a:t>
            </a:r>
          </a:p>
          <a:p>
            <a:pPr>
              <a:lnSpc>
                <a:spcPct val="145000"/>
              </a:lnSpc>
            </a:pPr>
            <a:r>
              <a:rPr sz="1700" b="0">
                <a:solidFill>
                  <a:srgbClr val="B1A9A3"/>
                </a:solidFill>
                <a:latin typeface="Inter"/>
              </a:rPr>
              <a:t>people on the list hear before anyone else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000" b="0">
                <a:solidFill>
                  <a:srgbClr val="C23F00"/>
                </a:solidFill>
                <a:latin typeface="Geist Mono"/>
              </a:rPr>
              <a:t>sluice-beryl.vercel.app/waitlist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78706A"/>
                </a:solidFill>
                <a:latin typeface="Geist Mono"/>
              </a:rPr>
              <a:t>@xoxo_psycho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